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28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54864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194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Internship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1554480" cy="868680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4832" y="2834640"/>
            <a:ext cx="1554480" cy="868680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84832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03904" y="2834640"/>
            <a:ext cx="1554480" cy="868680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03904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22976" y="2834640"/>
            <a:ext cx="1554480" cy="868680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22976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42048" y="2834640"/>
            <a:ext cx="1554480" cy="868680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Yrs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42048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Yadav | BML Munjal University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Summer Internship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EAF3FC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Ingestion &amp; ETL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loading 10 datasets, live NAV fetch from mfapi.in, data validation and quality checks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EAF3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SQLite Star Schema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relational database with dim_fund, dim_date and 6 fact tables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EAF3FC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Exploratory Data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charts covering NAV trends, AUM growth, SIP inflows, demographics and geographic distribution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EAF3FC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Sharpe, Sortino, Alpha, Beta, VaR, CVaR, CAGR and composite fund scorecard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EAF3FC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Advanced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023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Sharpe, investor cohorts, SIP continuity, fund recommender and sector HHI concentration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EAF3FC"/>
          </a:solidFill>
          <a:ln w="12700">
            <a:solidFill>
              <a:srgbClr val="296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Power BI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4023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 with slicers, drill-through, KPI cards and benchmark comparisons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280160" cy="1005840"/>
          </a:xfrm>
          <a:prstGeom prst="rect">
            <a:avLst/>
          </a:prstGeom>
          <a:solidFill>
            <a:srgbClr val="0D3B6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API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27048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3B6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91640" y="1005840"/>
            <a:ext cx="1280160" cy="1005840"/>
          </a:xfrm>
          <a:prstGeom prst="rect">
            <a:avLst/>
          </a:prstGeom>
          <a:solidFill>
            <a:srgbClr val="1565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data_ingestion.py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live_nav_fetch.py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90088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3B6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1280160" cy="1005840"/>
          </a:xfrm>
          <a:prstGeom prst="rect">
            <a:avLst/>
          </a:prstGeom>
          <a:solidFill>
            <a:srgbClr val="0D47A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data_cleaning.py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NAV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53128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3B66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17720" y="1005840"/>
            <a:ext cx="1280160" cy="1005840"/>
          </a:xfrm>
          <a:prstGeom prst="rect">
            <a:avLst/>
          </a:prstGeom>
          <a:solidFill>
            <a:srgbClr val="1976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16168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3B66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80760" y="1005840"/>
            <a:ext cx="1280160" cy="1005840"/>
          </a:xfrm>
          <a:prstGeom prst="rect">
            <a:avLst/>
          </a:prstGeom>
          <a:solidFill>
            <a:srgbClr val="2835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outputs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79208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3B66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43800" y="1005840"/>
            <a:ext cx="1280160" cy="1005840"/>
          </a:xfrm>
          <a:prstGeom prst="rect">
            <a:avLst/>
          </a:prstGeom>
          <a:solidFill>
            <a:srgbClr val="2962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+ DOCX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Datasets Processed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74320" y="2743200"/>
            <a:ext cx="8595360" cy="329184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7889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01_fund_master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27889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23360" y="278892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metadata, categories, risk grades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090672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363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02_nav_history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97480" y="31363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rows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313639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— forward-filled for weekends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438144"/>
            <a:ext cx="8595360" cy="329184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4838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03_aum_by_fund_house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97480" y="348386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rows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0" y="34838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AUM per AMC 2022–2025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785616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8313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04_monthly_sip_inflows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97480" y="38313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rows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23360" y="383133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data — ₹31,002 Cr ATH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133088"/>
            <a:ext cx="8595360" cy="329184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17880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07_scheme_performance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97480" y="41788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23360" y="417880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Alpha, Beta, Drawdown metrics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480560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5262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08_investor_transactions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697480" y="45262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rows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023360" y="45262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SIP/Lumpsum/Redemption investor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188720"/>
          </a:xfrm>
          <a:prstGeom prst="rect">
            <a:avLst/>
          </a:prstGeom>
          <a:solidFill>
            <a:srgbClr val="EAF3FC"/>
          </a:solidFill>
          <a:ln w="19050">
            <a:solidFill>
              <a:srgbClr val="0D3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332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332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All-Time High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005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₹31,002 Cr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" y="1399032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hit ₹31,002 Cr in Dec 2025 — a 3x growth from ₹10,000 Cr in Jan 2022, showing massive retail participation shift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188720"/>
          </a:xfrm>
          <a:prstGeom prst="rect">
            <a:avLst/>
          </a:prstGeom>
          <a:solidFill>
            <a:srgbClr val="EAF3FC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332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10332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Dominates AUM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1005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₹12.5L Cr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1399032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commands ₹12.5 Lakh Crore AUM — nearly 2x the nearest competitor HDFC, driven by unmatched retail distribution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206240" cy="1188720"/>
          </a:xfrm>
          <a:prstGeom prst="rect">
            <a:avLst/>
          </a:prstGeom>
          <a:solidFill>
            <a:srgbClr val="EAF3FC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591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359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Doubled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331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 Cr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" y="2724912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folios doubled from 13.26 Cr (Jan 2022) to 26.12 Cr (Dec 2025) in just 4 years, powered by digital onboarding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206240" cy="1188720"/>
          </a:xfrm>
          <a:prstGeom prst="rect">
            <a:avLst/>
          </a:prstGeom>
          <a:solidFill>
            <a:srgbClr val="EAF3FC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591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2359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Dominates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2331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73168" y="2724912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 of all 32,778 transactions are SIP (19,716 transactions), confirming disciplined monthly investing is preferred over one-time lumpsum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611880"/>
            <a:ext cx="4206240" cy="1188720"/>
          </a:xfrm>
          <a:prstGeom prst="rect">
            <a:avLst/>
          </a:prstGeom>
          <a:solidFill>
            <a:srgbClr val="EAF3FC"/>
          </a:solidFill>
          <a:ln w="19050">
            <a:solidFill>
              <a:srgbClr val="2835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6850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3685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Leads Holdings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3657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8328" y="4050792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has highest allocation (~28%) across all equity fund portfolios, followed by IT at 18% and Energy at 12%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611880"/>
            <a:ext cx="4206240" cy="1188720"/>
          </a:xfrm>
          <a:prstGeom prst="rect">
            <a:avLst/>
          </a:prstGeom>
          <a:solidFill>
            <a:srgbClr val="EAF3FC"/>
          </a:solidFill>
          <a:ln w="19050">
            <a:solidFill>
              <a:srgbClr val="296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6850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3685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Dominate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3657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73168" y="4050792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contribute 78% of SIP volume vs B30 at 22%, showing significant untapped geographic expansion opportunity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Risk &amp; Return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EAF3FC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(3yr)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033272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(NAV_end/NAV_start)^(1/n) - 1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033272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23.39% (SBI Small Cap)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594360"/>
          </a:xfrm>
          <a:prstGeom prst="rect">
            <a:avLst/>
          </a:prstGeom>
          <a:solidFill>
            <a:srgbClr val="EAF3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1700784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673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(Rp - Rf) / σ × √252, Rf=6.5%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700784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73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1.362 across all funds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95144"/>
            <a:ext cx="8595360" cy="594360"/>
          </a:xfrm>
          <a:prstGeom prst="rect">
            <a:avLst/>
          </a:prstGeom>
          <a:solidFill>
            <a:srgbClr val="EAF3FC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4086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31720" y="2368296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23408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 using downside σ only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368296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asymmetric returns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62656"/>
            <a:ext cx="8595360" cy="594360"/>
          </a:xfrm>
          <a:prstGeom prst="rect">
            <a:avLst/>
          </a:prstGeom>
          <a:solidFill>
            <a:srgbClr val="EAF3FC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0837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(CAPM)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31720" y="3035808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30083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intercept × 252 vs NIFTY100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035808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0083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Alpha: +1.254% annualized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30168"/>
            <a:ext cx="8595360" cy="594360"/>
          </a:xfrm>
          <a:prstGeom prst="rect">
            <a:avLst/>
          </a:prstGeom>
          <a:solidFill>
            <a:srgbClr val="EAF3FC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75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31720" y="3703320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36758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slope vs NIFTY100 returns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703320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Beta: 0.873 (defensive)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EAF3FC"/>
          </a:solidFill>
          <a:ln w="12700">
            <a:solidFill>
              <a:srgbClr val="296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43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31720" y="4370832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37" name="Text 35"/>
          <p:cNvSpPr/>
          <p:nvPr/>
        </p:nvSpPr>
        <p:spPr>
          <a:xfrm>
            <a:off x="242316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min(NAV/running_max - 1)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4370832"/>
            <a:ext cx="18288" cy="457200"/>
          </a:xfrm>
          <a:prstGeom prst="rect">
            <a:avLst/>
          </a:prstGeom>
          <a:solidFill>
            <a:srgbClr val="D6E9FA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4343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-19.20% across all funds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Composite 0–100 Ranking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 (Weighted Percentile Ranks):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600200" cy="822960"/>
          </a:xfrm>
          <a:prstGeom prst="rect">
            <a:avLst/>
          </a:prstGeom>
          <a:solidFill>
            <a:srgbClr val="EAF3FC"/>
          </a:solidFill>
          <a:ln w="25400">
            <a:solidFill>
              <a:srgbClr val="0D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7647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 CAGR Rank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1325880"/>
            <a:ext cx="1600200" cy="822960"/>
          </a:xfrm>
          <a:prstGeom prst="rect">
            <a:avLst/>
          </a:prstGeom>
          <a:solidFill>
            <a:srgbClr val="EAF3FC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7647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Rank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1325880"/>
            <a:ext cx="1600200" cy="822960"/>
          </a:xfrm>
          <a:prstGeom prst="rect">
            <a:avLst/>
          </a:prstGeom>
          <a:solidFill>
            <a:srgbClr val="EAF3FC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7647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Rank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0" y="1325880"/>
            <a:ext cx="1600200" cy="822960"/>
          </a:xfrm>
          <a:prstGeom prst="rect">
            <a:avLst/>
          </a:prstGeom>
          <a:solidFill>
            <a:srgbClr val="EAF3FC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17647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Rank (inverse)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23760" y="1325880"/>
            <a:ext cx="1600200" cy="822960"/>
          </a:xfrm>
          <a:prstGeom prst="rect">
            <a:avLst/>
          </a:prstGeom>
          <a:solidFill>
            <a:srgbClr val="EAF3FC"/>
          </a:solidFill>
          <a:ln w="25400">
            <a:solidFill>
              <a:srgbClr val="2835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23760" y="17647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Rank (inverse)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by Composite Score: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78892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27889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27889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788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2788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7889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 Return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788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127248"/>
            <a:ext cx="8595360" cy="329184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72968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31729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Emerging Bluechip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1880" y="31729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&amp; Mid Cap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172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32120" y="3172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1729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3172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474720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52044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" y="35204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Direct Growth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11880" y="35204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352044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2044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352044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40880" y="352044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822192"/>
            <a:ext cx="8595360" cy="329184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86791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5800" y="386791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Bluechip Direct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11880" y="38679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92040" y="38679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532120" y="38679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72200" y="386791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040880" y="38679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169664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21538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" y="421538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Direct Growth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611880" y="42153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892040" y="42153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32120" y="42153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72200" y="421538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040880" y="421538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4517136"/>
            <a:ext cx="8595360" cy="329184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56285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5800" y="456285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Emerging Equity Direct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611880" y="45628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892040" y="45628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532120" y="45628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172200" y="456285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040880" y="45628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— Risk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AF3FC"/>
          </a:solidFill>
          <a:ln w="19050">
            <a:solidFill>
              <a:srgbClr val="0D3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&amp; CVaR (95%)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3560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VaR = 5th percentile of daily returns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70078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CVaR = Mean of returns below VaR threshold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Small/Mid Cap: VaR exceeds -2.5% daily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Liquid/Gilt funds: VaR below -0.3%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49631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Saved: var_cvar_report.csv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1828800"/>
          </a:xfrm>
          <a:prstGeom prst="rect">
            <a:avLst/>
          </a:prstGeom>
          <a:solidFill>
            <a:srgbClr val="EAF3FC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3560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Window: returns.rolling(90).mean()/std × √252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70078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Plotted for 5 funds across categories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196596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Sharpe peaked &gt;2.0 in 2023 bull run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23113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Dropped below 1.0 in 2024 correction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49631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Cap most stable throughout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926080"/>
            <a:ext cx="4206240" cy="1828800"/>
          </a:xfrm>
          <a:prstGeom prst="rect">
            <a:avLst/>
          </a:prstGeom>
          <a:solidFill>
            <a:srgbClr val="EAF3FC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40156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Grouped by first transaction year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66674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 cohort: highest avg SIP amount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93192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2022 cohort: prefers Large Cap Direct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1970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Newer cohorts: shift to Mid/Flexi Cap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46227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Growing risk appetite over time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206240" cy="1828800"/>
          </a:xfrm>
          <a:prstGeom prst="rect">
            <a:avLst/>
          </a:prstGeom>
          <a:solidFill>
            <a:srgbClr val="EAF3FC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&amp; Recommender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40156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Investors with 6+ SIPs — avg gap analysis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66674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At-Risk flag: avg gap &gt; 35 days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93192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Fund Recommender: Low/Moderate/High input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41970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top 3 by Sharpe within risk grade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446227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Saved: recommender.py (CLI tool)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 Interactive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AF3FC"/>
          </a:solidFill>
          <a:ln w="25400">
            <a:solidFill>
              <a:srgbClr val="0D3B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KPI Cards: AUM, SIP, Folios, Schemes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AUM Trend Line Chart 2022–2025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AUM by Fund House Bar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1828800"/>
          </a:xfrm>
          <a:prstGeom prst="rect">
            <a:avLst/>
          </a:prstGeom>
          <a:solidFill>
            <a:srgbClr val="EAF3FC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05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35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Risk vs Return Scatter (bubble=AUM)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755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Sortable Fund Scorecard 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075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NAV vs NIFTY100 Line Chart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3957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Slicers: Fund House, Category, Plan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4206240" cy="1828800"/>
          </a:xfrm>
          <a:prstGeom prst="rect">
            <a:avLst/>
          </a:prstGeom>
          <a:solidFill>
            <a:srgbClr val="EAF3FC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926080"/>
            <a:ext cx="4206240" cy="38404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971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01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Transaction Amount by State (bar)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721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SIP/Lumpsum/Redemption Donut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041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Avg SIP Amount by Age Group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361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Monthly Transaction Volume 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4206240" cy="1828800"/>
          </a:xfrm>
          <a:prstGeom prst="rect">
            <a:avLst/>
          </a:prstGeom>
          <a:solidFill>
            <a:srgbClr val="EAF3FC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926080"/>
            <a:ext cx="4206240" cy="38404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971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401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SIP Inflow Bar Chart 2022–2025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721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NIFTY50 Trend Line Chart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041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Category Inflow Heatmap (Matrix)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361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Top 5 Categories by Net Inflow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&amp; Deliverables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00200" cy="347472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87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3533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6459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3.0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938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22311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47672" y="960120"/>
            <a:ext cx="16002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1947672" y="987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47672" y="13533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47672" y="16459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47672" y="1938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47672" y="22311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960120"/>
            <a:ext cx="1600200" cy="34747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987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12464" y="13533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Stats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12464" y="16459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12464" y="1938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12464" y="22311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Index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960120"/>
            <a:ext cx="1600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3" name="Text 21"/>
          <p:cNvSpPr/>
          <p:nvPr/>
        </p:nvSpPr>
        <p:spPr>
          <a:xfrm>
            <a:off x="5477256" y="987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77256" y="13533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77256" y="16459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77256" y="1938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77256" y="22311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960120"/>
            <a:ext cx="1600200" cy="347472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29" name="Text 27"/>
          <p:cNvSpPr/>
          <p:nvPr/>
        </p:nvSpPr>
        <p:spPr>
          <a:xfrm>
            <a:off x="7242048" y="987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42048" y="13533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Lab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42048" y="16459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42048" y="19385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42048" y="22311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3145536"/>
            <a:ext cx="8595360" cy="256032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17296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" y="317296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data_ingestion.py, live_nav_fetch.py, data_cleaning.py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1729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429000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4564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" y="345643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bluestock_mf.db, schema.sql, queries.sql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34564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3712464"/>
            <a:ext cx="8595360" cy="256032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73989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" y="3739896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EDA_Analysis.ipynb (15+ charts)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3995928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2336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22960" y="402336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Performance_Analytics.ipynb, fund_scorecard.csv, alpha_beta.csv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72200" y="40233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279392"/>
            <a:ext cx="8595360" cy="256032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30682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22960" y="430682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bluestock_mf_dashboard.pbix, Dashboard.pdf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72200" y="43068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4562856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59028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22960" y="459028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Advanced_Analytics.ipynb, var_cvar_report.csv, recommender.py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72200" y="4590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EAF3FC"/>
          </a:solidFill>
          <a:ln w="6350">
            <a:solidFill>
              <a:srgbClr val="D6E9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22960" y="48737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Final_Report.docx, Presentation.pptx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172200" y="48737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Slides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Insights &amp; 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98755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12" y="9875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3x to ₹31,002 Cr in 4 years — retail participation is at all-time high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98755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02352" y="9875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dominates at ₹12.5L Cr AUM — 2x nearest competitor — driven by retail reach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719072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79222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" y="17922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average alpha of +1.254% means most funds beat NIFTY100 on risk-adjusted basis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719072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79222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02352" y="17922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plans cost 1%+ less annually — investors in Regular plans are overpaying significantly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523744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259689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" y="25968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folios doubled in 4 years — digital onboarding is driving new investor growth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523744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296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59689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02352" y="25968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Small/Mid Cap funds: VaR exceeds -2.5% daily — high return but significant tail risk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328416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40156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" y="34015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age group dominates SIP participation — young professionals are primary adopters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328416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40156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2352" y="34015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cities contribute only 22% of SIP volume — massive untapped geographic potential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133088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4206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512" y="4206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bull run: Sharpe ratios crossed 2.0 for Large Cap — exceptional risk-adjusted returns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4133088"/>
            <a:ext cx="4206240" cy="713232"/>
          </a:xfrm>
          <a:prstGeom prst="rect">
            <a:avLst/>
          </a:prstGeom>
          <a:solidFill>
            <a:srgbClr val="EAF3FC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4206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02352" y="4206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at ~28% portfolio allocation — concentrated sector bet across equity funds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286000" y="1737360"/>
            <a:ext cx="4572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 | Summer Internship 2025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built as part of the Bluestock Fintech internship program covering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A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engineering, analytics, visualization and advanced risk modelling.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1473</Words>
  <Application>Microsoft Office PowerPoint</Application>
  <PresentationFormat>On-screen Show (16:9)</PresentationFormat>
  <Paragraphs>306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jatin yadav</cp:lastModifiedBy>
  <cp:revision>2</cp:revision>
  <dcterms:created xsi:type="dcterms:W3CDTF">2026-07-10T08:50:51Z</dcterms:created>
  <dcterms:modified xsi:type="dcterms:W3CDTF">2026-07-10T08:54:11Z</dcterms:modified>
</cp:coreProperties>
</file>